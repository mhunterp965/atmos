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9509760" cy="7223760"/>
          </a:xfrm>
          <a:prstGeom prst="rect">
            <a:avLst/>
          </a:prstGeom>
          <a:noFill/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10896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A0 — Decompose Conduct Air-Focused Weather Exploitation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640080"/>
            <a:ext cx="6035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Arial"/>
              </a:rPr>
              <a:t>Parent: A-0 Conduct Air-Focused Weather Exploitation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40080"/>
            <a:ext cx="2011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Arial"/>
              </a:rPr>
              <a:t>Distribution Statement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7242048"/>
            <a:ext cx="14447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Arial"/>
              </a:rPr>
              <a:t>Node: A0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429000"/>
            <a:ext cx="141732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A1</a:t>
            </a:r>
          </a:p>
          <a:p>
            <a:pPr algn="ctr"/>
            <a:r>
              <a:rPr sz="1000">
                <a:solidFill>
                  <a:srgbClr val="000000"/>
                </a:solidFill>
                <a:latin typeface="Arial"/>
              </a:rPr>
              <a:t>Acquire Micro-Weather Observations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828800"/>
            <a:ext cx="141732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A2</a:t>
            </a:r>
          </a:p>
          <a:p>
            <a:pPr algn="ctr"/>
            <a:r>
              <a:rPr sz="1000">
                <a:solidFill>
                  <a:srgbClr val="000000"/>
                </a:solidFill>
                <a:latin typeface="Arial"/>
              </a:rPr>
              <a:t>Generate Local Weather 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4983480"/>
            <a:ext cx="141732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A3</a:t>
            </a:r>
          </a:p>
          <a:p>
            <a:pPr algn="ctr"/>
            <a:r>
              <a:rPr sz="1000">
                <a:solidFill>
                  <a:srgbClr val="000000"/>
                </a:solidFill>
                <a:latin typeface="Arial"/>
              </a:rPr>
              <a:t>Quantify Uncertainty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32120" y="3429000"/>
            <a:ext cx="137160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A4</a:t>
            </a:r>
          </a:p>
          <a:p>
            <a:pPr algn="ctr"/>
            <a:r>
              <a:rPr sz="1000">
                <a:solidFill>
                  <a:srgbClr val="000000"/>
                </a:solidFill>
                <a:latin typeface="Arial"/>
              </a:rPr>
              <a:t>Federate and Maintain Federated Weather Context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0" y="1828800"/>
            <a:ext cx="132588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A5</a:t>
            </a:r>
          </a:p>
          <a:p>
            <a:pPr algn="ctr"/>
            <a:r>
              <a:rPr sz="1000">
                <a:solidFill>
                  <a:srgbClr val="000000"/>
                </a:solidFill>
                <a:latin typeface="Arial"/>
              </a:rPr>
              <a:t>Detect Threshold Crossings (Descriptive Support)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4983480"/>
            <a:ext cx="132588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A6</a:t>
            </a:r>
          </a:p>
          <a:p>
            <a:pPr algn="ctr"/>
            <a:r>
              <a:rPr sz="1000">
                <a:solidFill>
                  <a:srgbClr val="000000"/>
                </a:solidFill>
                <a:latin typeface="Arial"/>
              </a:rPr>
              <a:t>Produce Mission-Tailored Weather Context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" y="3727551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1792" y="405399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02920" y="3745839"/>
            <a:ext cx="137160" cy="0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5760" y="3471519"/>
            <a:ext cx="14630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Arial"/>
              </a:rPr>
              <a:t>I1 Collocated Atmospheric Observations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4072280"/>
            <a:ext cx="137160" cy="0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4108856"/>
            <a:ext cx="14630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Arial"/>
              </a:rPr>
              <a:t>I2 Peer Platform Weather Observations</a:t>
            </a:r>
          </a:p>
        </p:txBody>
      </p:sp>
      <p:sp>
        <p:nvSpPr>
          <p:cNvPr id="19" name="Oval 18"/>
          <p:cNvSpPr/>
          <p:nvPr/>
        </p:nvSpPr>
        <p:spPr>
          <a:xfrm>
            <a:off x="2039112" y="389077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496312" y="229057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2057400" y="2308860"/>
            <a:ext cx="457200" cy="1600200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084831" y="2633472"/>
            <a:ext cx="141732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Arial"/>
              </a:rPr>
              <a:t>Quality-Checked Observations</a:t>
            </a:r>
          </a:p>
        </p:txBody>
      </p:sp>
      <p:sp>
        <p:nvSpPr>
          <p:cNvPr id="23" name="Oval 22"/>
          <p:cNvSpPr/>
          <p:nvPr/>
        </p:nvSpPr>
        <p:spPr>
          <a:xfrm>
            <a:off x="3913632" y="2444191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913632" y="213695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050792" y="544525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3931920" y="2462479"/>
            <a:ext cx="137160" cy="3001061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246120" y="4160520"/>
            <a:ext cx="141732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Arial"/>
              </a:rPr>
              <a:t>Local Weather State</a:t>
            </a:r>
          </a:p>
        </p:txBody>
      </p:sp>
      <p:sp>
        <p:nvSpPr>
          <p:cNvPr id="28" name="Oval 27"/>
          <p:cNvSpPr/>
          <p:nvPr/>
        </p:nvSpPr>
        <p:spPr>
          <a:xfrm>
            <a:off x="5513832" y="3698748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3931920" y="2155240"/>
            <a:ext cx="1600200" cy="1561795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315968" y="2852928"/>
            <a:ext cx="1325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Arial"/>
              </a:rPr>
              <a:t>Local Weather State Publication</a:t>
            </a:r>
          </a:p>
        </p:txBody>
      </p:sp>
      <p:sp>
        <p:nvSpPr>
          <p:cNvPr id="31" name="Oval 30"/>
          <p:cNvSpPr/>
          <p:nvPr/>
        </p:nvSpPr>
        <p:spPr>
          <a:xfrm>
            <a:off x="5468112" y="544525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513832" y="4082796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5486400" y="4101083"/>
            <a:ext cx="45720" cy="1362457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60520" y="598932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Arial"/>
              </a:rPr>
              <a:t>Confidence Bounds &amp; Risk Envelopes</a:t>
            </a:r>
          </a:p>
        </p:txBody>
      </p:sp>
      <p:sp>
        <p:nvSpPr>
          <p:cNvPr id="35" name="Oval 34"/>
          <p:cNvSpPr/>
          <p:nvPr/>
        </p:nvSpPr>
        <p:spPr>
          <a:xfrm>
            <a:off x="6885432" y="3621938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85432" y="389077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885432" y="4159605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114032" y="229057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6903720" y="2308860"/>
            <a:ext cx="228600" cy="1331366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532120" y="2697480"/>
            <a:ext cx="1325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Arial"/>
              </a:rPr>
              <a:t>Federated Weather Context / COWP State</a:t>
            </a:r>
          </a:p>
        </p:txBody>
      </p:sp>
      <p:sp>
        <p:nvSpPr>
          <p:cNvPr id="41" name="Oval 40"/>
          <p:cNvSpPr/>
          <p:nvPr/>
        </p:nvSpPr>
        <p:spPr>
          <a:xfrm>
            <a:off x="7571232" y="544525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6903720" y="4177893"/>
            <a:ext cx="685800" cy="1285647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532120" y="4617720"/>
            <a:ext cx="1325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Arial"/>
              </a:rPr>
              <a:t>Federated Weather Context / COWP State</a:t>
            </a:r>
          </a:p>
        </p:txBody>
      </p:sp>
      <p:sp>
        <p:nvSpPr>
          <p:cNvPr id="44" name="Oval 43"/>
          <p:cNvSpPr/>
          <p:nvPr/>
        </p:nvSpPr>
        <p:spPr>
          <a:xfrm>
            <a:off x="6885432" y="389077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6903720" y="3909060"/>
            <a:ext cx="2770632" cy="0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732520" y="3634740"/>
            <a:ext cx="9144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Arial"/>
              </a:rPr>
              <a:t>O1 Fused COWP State</a:t>
            </a:r>
          </a:p>
        </p:txBody>
      </p:sp>
      <p:sp>
        <p:nvSpPr>
          <p:cNvPr id="47" name="Oval 46"/>
          <p:cNvSpPr/>
          <p:nvPr/>
        </p:nvSpPr>
        <p:spPr>
          <a:xfrm>
            <a:off x="8439912" y="229057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8458200" y="2308860"/>
            <a:ext cx="1216152" cy="0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942832" y="1595628"/>
            <a:ext cx="73152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Arial"/>
              </a:rPr>
              <a:t>O3 Weather State Change Notifications</a:t>
            </a:r>
          </a:p>
        </p:txBody>
      </p:sp>
      <p:sp>
        <p:nvSpPr>
          <p:cNvPr id="50" name="Oval 49"/>
          <p:cNvSpPr/>
          <p:nvPr/>
        </p:nvSpPr>
        <p:spPr>
          <a:xfrm>
            <a:off x="8897112" y="544525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8915400" y="5463540"/>
            <a:ext cx="758952" cy="0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979408" y="4750307"/>
            <a:ext cx="694944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Arial"/>
              </a:rPr>
              <a:t>O2 Mission-Tailored COWP Excerpts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98464" y="1554480"/>
            <a:ext cx="2810865" cy="0"/>
          </a:xfrm>
          <a:prstGeom prst="bentConnector3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980176" y="341071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5998464" y="1554480"/>
            <a:ext cx="0" cy="1874520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791041" y="496519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8809329" y="1554480"/>
            <a:ext cx="0" cy="3429000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074920" y="475488"/>
            <a:ext cx="1371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C2 OPSEC / classification guidance</a:t>
            </a:r>
          </a:p>
        </p:txBody>
      </p:sp>
      <p:sp>
        <p:nvSpPr>
          <p:cNvPr id="59" name="Oval 58"/>
          <p:cNvSpPr/>
          <p:nvPr/>
        </p:nvSpPr>
        <p:spPr>
          <a:xfrm>
            <a:off x="6419088" y="341071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6437376" y="1554480"/>
            <a:ext cx="0" cy="1874520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989320" y="914400"/>
            <a:ext cx="14173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C3 Network availability and DDS QoS policies</a:t>
            </a:r>
          </a:p>
        </p:txBody>
      </p:sp>
      <p:sp>
        <p:nvSpPr>
          <p:cNvPr id="62" name="Oval 61"/>
          <p:cNvSpPr/>
          <p:nvPr/>
        </p:nvSpPr>
        <p:spPr>
          <a:xfrm>
            <a:off x="7511796" y="181051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7530083" y="1554480"/>
            <a:ext cx="0" cy="274320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812280" y="475488"/>
            <a:ext cx="12801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I3 Mission Weather Threshold Definitions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060436" y="1682496"/>
            <a:ext cx="510235" cy="0"/>
          </a:xfrm>
          <a:prstGeom prst="bentConnector3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8042148" y="181051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8060436" y="1682496"/>
            <a:ext cx="0" cy="146304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8552383" y="496519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8570671" y="1682496"/>
            <a:ext cx="0" cy="3300984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818120" y="914400"/>
            <a:ext cx="13258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C1 Mission objectives and operational constraints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348740" y="6876288"/>
            <a:ext cx="6771132" cy="0"/>
          </a:xfrm>
          <a:prstGeom prst="bentConnector3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330452" y="437083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 flipV="1">
            <a:off x="1348740" y="4389120"/>
            <a:ext cx="0" cy="2487168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5952744" y="437083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 flipV="1">
            <a:off x="5971031" y="4389120"/>
            <a:ext cx="0" cy="2487168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7342632" y="277063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 flipV="1">
            <a:off x="7360920" y="2788920"/>
            <a:ext cx="0" cy="4087368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8101584" y="592531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 flipV="1">
            <a:off x="8119872" y="5943600"/>
            <a:ext cx="0" cy="932688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384048" y="7223760"/>
            <a:ext cx="2377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Arial"/>
              </a:rPr>
              <a:t>M1 Platforms hosting ATMOS node compute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223260" y="6656832"/>
            <a:ext cx="1554480" cy="0"/>
          </a:xfrm>
          <a:prstGeom prst="bentConnector3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3204972" y="277063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 flipV="1">
            <a:off x="3223260" y="2788920"/>
            <a:ext cx="0" cy="3867912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4759452" y="592531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 flipV="1">
            <a:off x="4777740" y="5943600"/>
            <a:ext cx="0" cy="713232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2971800" y="6455664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Arial"/>
              </a:rPr>
              <a:t>M2 ABLE-LBM / reduced models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6437376" y="7095744"/>
            <a:ext cx="1947672" cy="0"/>
          </a:xfrm>
          <a:prstGeom prst="bentConnector3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6419088" y="437083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6437376" y="4389120"/>
            <a:ext cx="0" cy="2706624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7479792" y="277063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 flipV="1">
            <a:off x="7498079" y="2788920"/>
            <a:ext cx="0" cy="4306824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Oval 91"/>
          <p:cNvSpPr/>
          <p:nvPr/>
        </p:nvSpPr>
        <p:spPr>
          <a:xfrm>
            <a:off x="8366760" y="5925312"/>
            <a:ext cx="36576" cy="3657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 flipV="1">
            <a:off x="8385048" y="5943600"/>
            <a:ext cx="0" cy="1152144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5440680" y="7223760"/>
            <a:ext cx="2926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Arial"/>
              </a:rPr>
              <a:t>M3 DDS middleware and communications links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