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21945600" cy="118872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1005840"/>
            <a:ext cx="19202400" cy="9784080"/>
          </a:xfrm>
          <a:prstGeom prst="rect">
            <a:avLst/>
          </a:prstGeom>
          <a:noFill/>
          <a:ln w="158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0" y="91440"/>
            <a:ext cx="13716000" cy="27432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ctr"/>
            <a:r>
              <a:rPr sz="1600" b="1">
                <a:solidFill>
                  <a:srgbClr val="000000"/>
                </a:solidFill>
                <a:latin typeface="Arial"/>
              </a:rPr>
              <a:t>A4 — Decompose Federate and Maintain Federated Weather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459200" y="91440"/>
            <a:ext cx="3108960" cy="237744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r"/>
            <a:r>
              <a:rPr sz="1100" b="0">
                <a:solidFill>
                  <a:srgbClr val="000000"/>
                </a:solidFill>
                <a:latin typeface="Arial"/>
              </a:rPr>
              <a:t>Distribution Statement 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830800" y="10469880"/>
            <a:ext cx="1737360" cy="27432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r"/>
            <a:r>
              <a:rPr sz="1200" b="1">
                <a:solidFill>
                  <a:srgbClr val="000000"/>
                </a:solidFill>
                <a:latin typeface="Arial"/>
              </a:rPr>
              <a:t>Node: A4</a:t>
            </a:r>
          </a:p>
        </p:txBody>
      </p:sp>
      <p:sp>
        <p:nvSpPr>
          <p:cNvPr id="6" name="Rectangle 5"/>
          <p:cNvSpPr/>
          <p:nvPr/>
        </p:nvSpPr>
        <p:spPr>
          <a:xfrm>
            <a:off x="2286000" y="2743200"/>
            <a:ext cx="3200400" cy="1371600"/>
          </a:xfrm>
          <a:prstGeom prst="rect">
            <a:avLst/>
          </a:prstGeom>
          <a:solidFill>
            <a:srgbClr val="FFFFFF"/>
          </a:solidFill>
          <a:ln w="254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000000"/>
                </a:solidFill>
                <a:latin typeface="Arial"/>
              </a:rPr>
              <a:t>Publish Local Weather State</a:t>
            </a:r>
          </a:p>
          <a:p>
            <a:pPr algn="ctr"/>
            <a:r>
              <a:rPr sz="850">
                <a:solidFill>
                  <a:srgbClr val="000000"/>
                </a:solidFill>
                <a:latin typeface="Arial"/>
              </a:rPr>
              <a:t>Publish locally generated weather state and uncertainty to the network via DDS.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983480" y="3840480"/>
            <a:ext cx="411480" cy="219456"/>
          </a:xfrm>
          <a:prstGeom prst="rect">
            <a:avLst/>
          </a:prstGeom>
          <a:noFill/>
        </p:spPr>
        <p:txBody>
          <a:bodyPr wrap="square" anchor="b" lIns="12700" rIns="12700" tIns="12700" bIns="12700">
            <a:spAutoFit/>
          </a:bodyPr>
          <a:lstStyle/>
          <a:p>
            <a:pPr algn="r"/>
            <a:r>
              <a:rPr sz="1100" b="1">
                <a:solidFill>
                  <a:srgbClr val="000000"/>
                </a:solidFill>
                <a:latin typeface="Arial"/>
              </a:rPr>
              <a:t>A41</a:t>
            </a:r>
          </a:p>
        </p:txBody>
      </p:sp>
      <p:sp>
        <p:nvSpPr>
          <p:cNvPr id="8" name="Rectangle 7"/>
          <p:cNvSpPr/>
          <p:nvPr/>
        </p:nvSpPr>
        <p:spPr>
          <a:xfrm>
            <a:off x="2286000" y="6400800"/>
            <a:ext cx="3200400" cy="1371600"/>
          </a:xfrm>
          <a:prstGeom prst="rect">
            <a:avLst/>
          </a:prstGeom>
          <a:solidFill>
            <a:srgbClr val="FFFFFF"/>
          </a:solidFill>
          <a:ln w="254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000000"/>
                </a:solidFill>
                <a:latin typeface="Arial"/>
              </a:rPr>
              <a:t>Subscribe to Peer Weather States</a:t>
            </a:r>
          </a:p>
          <a:p>
            <a:pPr algn="ctr"/>
            <a:r>
              <a:rPr sz="850">
                <a:solidFill>
                  <a:srgbClr val="000000"/>
                </a:solidFill>
                <a:latin typeface="Arial"/>
              </a:rPr>
              <a:t>Receive weather states from peer nodes and optional reachback when connectivity permits.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83480" y="7498079"/>
            <a:ext cx="411480" cy="219456"/>
          </a:xfrm>
          <a:prstGeom prst="rect">
            <a:avLst/>
          </a:prstGeom>
          <a:noFill/>
        </p:spPr>
        <p:txBody>
          <a:bodyPr wrap="square" anchor="b" lIns="12700" rIns="12700" tIns="12700" bIns="12700">
            <a:spAutoFit/>
          </a:bodyPr>
          <a:lstStyle/>
          <a:p>
            <a:pPr algn="r"/>
            <a:r>
              <a:rPr sz="1100" b="1">
                <a:solidFill>
                  <a:srgbClr val="000000"/>
                </a:solidFill>
                <a:latin typeface="Arial"/>
              </a:rPr>
              <a:t>A42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058400" y="4206240"/>
            <a:ext cx="3657600" cy="1828800"/>
          </a:xfrm>
          <a:prstGeom prst="rect">
            <a:avLst/>
          </a:prstGeom>
          <a:solidFill>
            <a:srgbClr val="FFFFFF"/>
          </a:solidFill>
          <a:ln w="254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000000"/>
                </a:solidFill>
                <a:latin typeface="Arial"/>
              </a:rPr>
              <a:t>Stitch and Blend Weather States</a:t>
            </a:r>
          </a:p>
          <a:p>
            <a:pPr algn="ctr"/>
            <a:r>
              <a:rPr sz="850">
                <a:solidFill>
                  <a:srgbClr val="000000"/>
                </a:solidFill>
                <a:latin typeface="Arial"/>
              </a:rPr>
              <a:t>Reconcile local and peer states into a fused, internally consistent shared context instance.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213080" y="5760720"/>
            <a:ext cx="411480" cy="219456"/>
          </a:xfrm>
          <a:prstGeom prst="rect">
            <a:avLst/>
          </a:prstGeom>
          <a:noFill/>
        </p:spPr>
        <p:txBody>
          <a:bodyPr wrap="square" anchor="b" lIns="12700" rIns="12700" tIns="12700" bIns="12700">
            <a:spAutoFit/>
          </a:bodyPr>
          <a:lstStyle/>
          <a:p>
            <a:pPr algn="r"/>
            <a:r>
              <a:rPr sz="1100" b="1">
                <a:solidFill>
                  <a:srgbClr val="000000"/>
                </a:solidFill>
                <a:latin typeface="Arial"/>
              </a:rPr>
              <a:t>A43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058400" y="7680960"/>
            <a:ext cx="3657600" cy="1371600"/>
          </a:xfrm>
          <a:prstGeom prst="rect">
            <a:avLst/>
          </a:prstGeom>
          <a:solidFill>
            <a:srgbClr val="FFFFFF"/>
          </a:solidFill>
          <a:ln w="254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000000"/>
                </a:solidFill>
                <a:latin typeface="Arial"/>
              </a:rPr>
              <a:t>Maintain Degraded or Disconnected Operation</a:t>
            </a:r>
          </a:p>
          <a:p>
            <a:pPr algn="ctr"/>
            <a:r>
              <a:rPr sz="850">
                <a:solidFill>
                  <a:srgbClr val="000000"/>
                </a:solidFill>
                <a:latin typeface="Arial"/>
              </a:rPr>
              <a:t>Maintain cached weather states and continue operation under degraded or disconnected communications.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213080" y="8778240"/>
            <a:ext cx="411480" cy="219456"/>
          </a:xfrm>
          <a:prstGeom prst="rect">
            <a:avLst/>
          </a:prstGeom>
          <a:noFill/>
        </p:spPr>
        <p:txBody>
          <a:bodyPr wrap="square" anchor="b" lIns="12700" rIns="12700" tIns="12700" bIns="12700">
            <a:spAutoFit/>
          </a:bodyPr>
          <a:lstStyle/>
          <a:p>
            <a:pPr algn="r"/>
            <a:r>
              <a:rPr sz="1100" b="1">
                <a:solidFill>
                  <a:srgbClr val="000000"/>
                </a:solidFill>
                <a:latin typeface="Arial"/>
              </a:rPr>
              <a:t>A44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57200" y="3291840"/>
            <a:ext cx="1005840" cy="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1463040" y="3291840"/>
            <a:ext cx="822960" cy="0"/>
          </a:xfrm>
          <a:prstGeom prst="line">
            <a:avLst/>
          </a:prstGeom>
          <a:ln w="1905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1463040" y="3291840"/>
            <a:ext cx="0" cy="164592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1463040" y="4937760"/>
            <a:ext cx="8595360" cy="0"/>
          </a:xfrm>
          <a:prstGeom prst="line">
            <a:avLst/>
          </a:prstGeom>
          <a:ln w="1905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502920" y="2615184"/>
            <a:ext cx="2194560" cy="54864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/>
            <a:r>
              <a:rPr sz="800" b="0">
                <a:solidFill>
                  <a:srgbClr val="000000"/>
                </a:solidFill>
                <a:latin typeface="Arial"/>
              </a:rPr>
              <a:t>F3 Confidence Bounds &amp; Risk Envelopes (IER-09)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57200" y="6949440"/>
            <a:ext cx="1828800" cy="0"/>
          </a:xfrm>
          <a:prstGeom prst="line">
            <a:avLst/>
          </a:prstGeom>
          <a:ln w="1905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02920" y="6272784"/>
            <a:ext cx="2194560" cy="54864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/>
            <a:r>
              <a:rPr sz="800" b="0">
                <a:solidFill>
                  <a:srgbClr val="000000"/>
                </a:solidFill>
                <a:latin typeface="Arial"/>
              </a:rPr>
              <a:t>Peer Weather State Publications (IER-10 / IER-11)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5486400" y="3474720"/>
            <a:ext cx="1828800" cy="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7315200" y="3474720"/>
            <a:ext cx="0" cy="109728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7315200" y="4572000"/>
            <a:ext cx="2743200" cy="0"/>
          </a:xfrm>
          <a:prstGeom prst="line">
            <a:avLst/>
          </a:prstGeom>
          <a:ln w="1905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6446520" y="2286000"/>
            <a:ext cx="2286000" cy="493776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/>
            <a:r>
              <a:rPr sz="800" b="0">
                <a:solidFill>
                  <a:srgbClr val="000000"/>
                </a:solidFill>
                <a:latin typeface="Arial"/>
              </a:rPr>
              <a:t>A4-F1 Local Weather State Publication / Local State Available (IER-10)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5486400" y="6949440"/>
            <a:ext cx="2377440" cy="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7863840" y="5303520"/>
            <a:ext cx="0" cy="164592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7863840" y="5303520"/>
            <a:ext cx="2194560" cy="0"/>
          </a:xfrm>
          <a:prstGeom prst="line">
            <a:avLst/>
          </a:prstGeom>
          <a:ln w="1905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6446520" y="7845552"/>
            <a:ext cx="2286000" cy="493776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/>
            <a:r>
              <a:rPr sz="800" b="0">
                <a:solidFill>
                  <a:srgbClr val="000000"/>
                </a:solidFill>
                <a:latin typeface="Arial"/>
              </a:rPr>
              <a:t>A4-F2 Peer Weather State Subscription (IER-11)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11430000" y="6035040"/>
            <a:ext cx="0" cy="1645920"/>
          </a:xfrm>
          <a:prstGeom prst="line">
            <a:avLst/>
          </a:prstGeom>
          <a:ln w="1905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V="1">
            <a:off x="12344400" y="6035040"/>
            <a:ext cx="0" cy="1645920"/>
          </a:xfrm>
          <a:prstGeom prst="line">
            <a:avLst/>
          </a:prstGeom>
          <a:ln w="1905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13853160" y="6263640"/>
            <a:ext cx="2286000" cy="384048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/>
            <a:r>
              <a:rPr sz="800" b="0">
                <a:solidFill>
                  <a:srgbClr val="000000"/>
                </a:solidFill>
                <a:latin typeface="Arial"/>
              </a:rPr>
              <a:t>A4-F3 Fused Weather Context State (IER-12)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3853160" y="6903720"/>
            <a:ext cx="2286000" cy="384048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/>
            <a:r>
              <a:rPr sz="800" b="0">
                <a:solidFill>
                  <a:srgbClr val="000000"/>
                </a:solidFill>
                <a:latin typeface="Arial"/>
              </a:rPr>
              <a:t>A4-F4 Cached Weather State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13716000" y="5120640"/>
            <a:ext cx="5943600" cy="0"/>
          </a:xfrm>
          <a:prstGeom prst="line">
            <a:avLst/>
          </a:prstGeom>
          <a:ln w="1905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13944600" y="4498848"/>
            <a:ext cx="3108960" cy="384048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/>
            <a:r>
              <a:rPr sz="800" b="0">
                <a:solidFill>
                  <a:srgbClr val="000000"/>
                </a:solidFill>
                <a:latin typeface="Arial"/>
              </a:rPr>
              <a:t>F4 Federated Weather Context / COWP State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9751040" y="4736592"/>
            <a:ext cx="2103120" cy="82296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/>
            <a:r>
              <a:rPr sz="800" b="1">
                <a:solidFill>
                  <a:srgbClr val="000000"/>
                </a:solidFill>
                <a:latin typeface="Arial"/>
              </a:rPr>
              <a:t>To A5 Detect Threshold Crossings and A6 Produce Mission-Tailored Weather Context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4572000" y="1005840"/>
            <a:ext cx="0" cy="27432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3200400" y="1280160"/>
            <a:ext cx="6126480" cy="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3200400" y="1280160"/>
            <a:ext cx="0" cy="1463040"/>
          </a:xfrm>
          <a:prstGeom prst="line">
            <a:avLst/>
          </a:prstGeom>
          <a:ln w="1905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6035040" y="1280160"/>
            <a:ext cx="0" cy="384048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H="1">
            <a:off x="2743200" y="5120640"/>
            <a:ext cx="3291840" cy="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2743200" y="5120640"/>
            <a:ext cx="0" cy="1280160"/>
          </a:xfrm>
          <a:prstGeom prst="line">
            <a:avLst/>
          </a:prstGeom>
          <a:ln w="1905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9326880" y="1280160"/>
            <a:ext cx="0" cy="548640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9326880" y="6766560"/>
            <a:ext cx="1280160" cy="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10607040" y="6766560"/>
            <a:ext cx="0" cy="914400"/>
          </a:xfrm>
          <a:prstGeom prst="line">
            <a:avLst/>
          </a:prstGeom>
          <a:ln w="1905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8229600" y="1005840"/>
            <a:ext cx="0" cy="54864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5669280" y="1554480"/>
            <a:ext cx="5120640" cy="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10789920" y="1554480"/>
            <a:ext cx="0" cy="2651760"/>
          </a:xfrm>
          <a:prstGeom prst="line">
            <a:avLst/>
          </a:prstGeom>
          <a:ln w="1905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5669280" y="1554480"/>
            <a:ext cx="0" cy="393192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 flipH="1">
            <a:off x="3291840" y="5486400"/>
            <a:ext cx="2377440" cy="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3291840" y="5486400"/>
            <a:ext cx="0" cy="914400"/>
          </a:xfrm>
          <a:prstGeom prst="line">
            <a:avLst/>
          </a:prstGeom>
          <a:ln w="1905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9692640" y="1554480"/>
            <a:ext cx="0" cy="484632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9692640" y="6400800"/>
            <a:ext cx="1280160" cy="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10972800" y="6400800"/>
            <a:ext cx="0" cy="1280160"/>
          </a:xfrm>
          <a:prstGeom prst="line">
            <a:avLst/>
          </a:prstGeom>
          <a:ln w="1905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12984480" y="1005840"/>
            <a:ext cx="0" cy="3200400"/>
          </a:xfrm>
          <a:prstGeom prst="line">
            <a:avLst/>
          </a:prstGeom>
          <a:ln w="1905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8961120" y="1005840"/>
            <a:ext cx="0" cy="612648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8961120" y="7132320"/>
            <a:ext cx="4023360" cy="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12984480" y="7132320"/>
            <a:ext cx="0" cy="548640"/>
          </a:xfrm>
          <a:prstGeom prst="line">
            <a:avLst/>
          </a:prstGeom>
          <a:ln w="1905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TextBox 57"/>
          <p:cNvSpPr txBox="1"/>
          <p:nvPr/>
        </p:nvSpPr>
        <p:spPr>
          <a:xfrm>
            <a:off x="2011680" y="365760"/>
            <a:ext cx="3291840" cy="27432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ctr"/>
            <a:r>
              <a:rPr sz="800" b="0">
                <a:solidFill>
                  <a:srgbClr val="000000"/>
                </a:solidFill>
                <a:latin typeface="Arial"/>
              </a:rPr>
              <a:t>C3 Network availability and DDS QoS policies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760720" y="365760"/>
            <a:ext cx="2926080" cy="27432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ctr"/>
            <a:r>
              <a:rPr sz="800" b="0">
                <a:solidFill>
                  <a:srgbClr val="000000"/>
                </a:solidFill>
                <a:latin typeface="Arial"/>
              </a:rPr>
              <a:t>C2 OPSEC / classification guidance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607040" y="365760"/>
            <a:ext cx="3840480" cy="27432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ctr"/>
            <a:r>
              <a:rPr sz="800" b="0">
                <a:solidFill>
                  <a:srgbClr val="000000"/>
                </a:solidFill>
                <a:latin typeface="Arial"/>
              </a:rPr>
              <a:t>C41 Fusion heuristics; data age limits; prioritization rules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669280" y="694944"/>
            <a:ext cx="4023360" cy="27432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ctr"/>
            <a:r>
              <a:rPr sz="800" b="0">
                <a:solidFill>
                  <a:srgbClr val="000000"/>
                </a:solidFill>
                <a:latin typeface="Arial"/>
              </a:rPr>
              <a:t>C42 Cache expiration; reconnection behavior; storage limits</a:t>
            </a:r>
          </a:p>
        </p:txBody>
      </p:sp>
      <p:cxnSp>
        <p:nvCxnSpPr>
          <p:cNvPr id="62" name="Connector 61"/>
          <p:cNvCxnSpPr/>
          <p:nvPr/>
        </p:nvCxnSpPr>
        <p:spPr>
          <a:xfrm flipV="1">
            <a:off x="7315200" y="10332720"/>
            <a:ext cx="0" cy="45720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>
            <a:off x="4572000" y="10332720"/>
            <a:ext cx="6400800" cy="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 flipV="1">
            <a:off x="4572000" y="7772400"/>
            <a:ext cx="0" cy="2560320"/>
          </a:xfrm>
          <a:prstGeom prst="line">
            <a:avLst/>
          </a:prstGeom>
          <a:ln w="1905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 flipV="1">
            <a:off x="5852160" y="4846320"/>
            <a:ext cx="0" cy="548640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 flipH="1">
            <a:off x="4206240" y="4846320"/>
            <a:ext cx="1645920" cy="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 flipV="1">
            <a:off x="4206240" y="4114800"/>
            <a:ext cx="0" cy="731520"/>
          </a:xfrm>
          <a:prstGeom prst="line">
            <a:avLst/>
          </a:prstGeom>
          <a:ln w="1905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 flipV="1">
            <a:off x="9509760" y="6583680"/>
            <a:ext cx="0" cy="374904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>
            <a:off x="9509760" y="6583680"/>
            <a:ext cx="1005840" cy="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 flipV="1">
            <a:off x="10515600" y="6035040"/>
            <a:ext cx="0" cy="548640"/>
          </a:xfrm>
          <a:prstGeom prst="line">
            <a:avLst/>
          </a:prstGeom>
          <a:ln w="1905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 flipV="1">
            <a:off x="10972800" y="9052560"/>
            <a:ext cx="0" cy="1280160"/>
          </a:xfrm>
          <a:prstGeom prst="line">
            <a:avLst/>
          </a:prstGeom>
          <a:ln w="1905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 flipV="1">
            <a:off x="5669280" y="9784080"/>
            <a:ext cx="0" cy="100584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>
            <a:off x="5029200" y="9784080"/>
            <a:ext cx="1371600" cy="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 flipV="1">
            <a:off x="5029200" y="7772400"/>
            <a:ext cx="0" cy="2011680"/>
          </a:xfrm>
          <a:prstGeom prst="line">
            <a:avLst/>
          </a:prstGeom>
          <a:ln w="1905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 flipV="1">
            <a:off x="6400800" y="4572000"/>
            <a:ext cx="0" cy="521208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 flipH="1">
            <a:off x="3657600" y="4572000"/>
            <a:ext cx="2743200" cy="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 flipV="1">
            <a:off x="3657600" y="4114800"/>
            <a:ext cx="0" cy="457200"/>
          </a:xfrm>
          <a:prstGeom prst="line">
            <a:avLst/>
          </a:prstGeom>
          <a:ln w="1905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 flipV="1">
            <a:off x="8778240" y="6309360"/>
            <a:ext cx="0" cy="448056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>
            <a:off x="8778240" y="6309360"/>
            <a:ext cx="4206240" cy="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 flipV="1">
            <a:off x="12984480" y="6035040"/>
            <a:ext cx="0" cy="274320"/>
          </a:xfrm>
          <a:prstGeom prst="line">
            <a:avLst/>
          </a:prstGeom>
          <a:ln w="1905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 flipV="1">
            <a:off x="11887200" y="9052560"/>
            <a:ext cx="0" cy="1737360"/>
          </a:xfrm>
          <a:prstGeom prst="line">
            <a:avLst/>
          </a:prstGeom>
          <a:ln w="1905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2" name="TextBox 81"/>
          <p:cNvSpPr txBox="1"/>
          <p:nvPr/>
        </p:nvSpPr>
        <p:spPr>
          <a:xfrm>
            <a:off x="5120640" y="10927080"/>
            <a:ext cx="2743200" cy="27432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ctr"/>
            <a:r>
              <a:rPr sz="800" b="0">
                <a:solidFill>
                  <a:srgbClr val="000000"/>
                </a:solidFill>
                <a:latin typeface="Arial"/>
              </a:rPr>
              <a:t>M1 Platforms hosting ATMOS node compute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8138160" y="10927080"/>
            <a:ext cx="2377440" cy="27432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ctr"/>
            <a:r>
              <a:rPr sz="800" b="0">
                <a:solidFill>
                  <a:srgbClr val="000000"/>
                </a:solidFill>
                <a:latin typeface="Arial"/>
              </a:rPr>
              <a:t>M41 ATMOS federation logic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10698480" y="10927080"/>
            <a:ext cx="2560320" cy="27432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ctr"/>
            <a:r>
              <a:rPr sz="800" b="0">
                <a:solidFill>
                  <a:srgbClr val="000000"/>
                </a:solidFill>
                <a:latin typeface="Arial"/>
              </a:rPr>
              <a:t>M42 Local storage / cache manager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4023360" y="11292840"/>
            <a:ext cx="3108960" cy="27432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ctr"/>
            <a:r>
              <a:rPr sz="800" b="0">
                <a:solidFill>
                  <a:srgbClr val="000000"/>
                </a:solidFill>
                <a:latin typeface="Arial"/>
              </a:rPr>
              <a:t>M3 DDS middleware and communications links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