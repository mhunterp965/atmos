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0312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379440" cy="85039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00584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A0 — Decompose Conduct Air-Focused Weather Exploitation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10559" y="64008"/>
            <a:ext cx="2926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0" y="9646920"/>
            <a:ext cx="25603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Node: A0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Acquire Micro-Weather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632704"/>
            <a:ext cx="45720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Generate Local Weather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5632704"/>
            <a:ext cx="45720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Quantify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5632704"/>
            <a:ext cx="45720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Federate and Maintain Federated Weather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0" y="5632704"/>
            <a:ext cx="45720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898880" y="274320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Detect Threshold Crossings (Descriptive Support)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0" y="3621024"/>
            <a:ext cx="45720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27680" y="667512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Produce Mission-Tailored Weather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0" y="7552944"/>
            <a:ext cx="45720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A6</a:t>
            </a:r>
          </a:p>
        </p:txBody>
      </p:sp>
      <p:cxnSp>
        <p:nvCxnSpPr>
          <p:cNvPr id="18" name="Connector 17"/>
          <p:cNvCxnSpPr>
            <a:stCxn id="6" idx="1"/>
            <a:endCxn id="8" idx="3"/>
          </p:cNvCxnSpPr>
          <p:nvPr/>
        </p:nvCxnSpPr>
        <p:spPr>
          <a:xfrm>
            <a:off x="2194560" y="5349240"/>
            <a:ext cx="53035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8" idx="1"/>
            <a:endCxn id="10" idx="3"/>
          </p:cNvCxnSpPr>
          <p:nvPr/>
        </p:nvCxnSpPr>
        <p:spPr>
          <a:xfrm>
            <a:off x="5120640" y="5349240"/>
            <a:ext cx="53035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0" idx="1"/>
            <a:endCxn id="12" idx="3"/>
          </p:cNvCxnSpPr>
          <p:nvPr/>
        </p:nvCxnSpPr>
        <p:spPr>
          <a:xfrm>
            <a:off x="8046720" y="5349240"/>
            <a:ext cx="53035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2" idx="1"/>
            <a:endCxn id="14" idx="3"/>
          </p:cNvCxnSpPr>
          <p:nvPr/>
        </p:nvCxnSpPr>
        <p:spPr>
          <a:xfrm flipV="1">
            <a:off x="10972800" y="3337560"/>
            <a:ext cx="5303520" cy="201168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2" idx="1"/>
            <a:endCxn id="16" idx="3"/>
          </p:cNvCxnSpPr>
          <p:nvPr/>
        </p:nvCxnSpPr>
        <p:spPr>
          <a:xfrm>
            <a:off x="10972800" y="5349240"/>
            <a:ext cx="7132320" cy="192024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66160" y="4160520"/>
            <a:ext cx="25603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F1 Time/Geo-Tagged, Quality-Checked Observations (IER-03)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77639"/>
            <a:ext cx="25603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F2 Local Micro-Weather State Estimate (IER-05)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160520"/>
            <a:ext cx="237744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F3 Confidence Bounds &amp; Risk Envelopes (IER-09)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0" y="2148840"/>
            <a:ext cx="21031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F4 Federated Weather Context / COWP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537960"/>
            <a:ext cx="237744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F5 Federated Weather Context / COWP State</a:t>
            </a:r>
          </a:p>
        </p:txBody>
      </p:sp>
      <p:cxnSp>
        <p:nvCxnSpPr>
          <p:cNvPr id="28" name="Connector 27"/>
          <p:cNvCxnSpPr>
            <a:endCxn id="6" idx="3"/>
          </p:cNvCxnSpPr>
          <p:nvPr/>
        </p:nvCxnSpPr>
        <p:spPr>
          <a:xfrm>
            <a:off x="457200" y="5029200"/>
            <a:ext cx="4114800" cy="32004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endCxn id="6" idx="3"/>
          </p:cNvCxnSpPr>
          <p:nvPr/>
        </p:nvCxnSpPr>
        <p:spPr>
          <a:xfrm flipV="1">
            <a:off x="457200" y="5349240"/>
            <a:ext cx="4114800" cy="32004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endCxn id="14" idx="3"/>
          </p:cNvCxnSpPr>
          <p:nvPr/>
        </p:nvCxnSpPr>
        <p:spPr>
          <a:xfrm>
            <a:off x="457200" y="3337560"/>
            <a:ext cx="158191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endCxn id="16" idx="3"/>
          </p:cNvCxnSpPr>
          <p:nvPr/>
        </p:nvCxnSpPr>
        <p:spPr>
          <a:xfrm>
            <a:off x="457200" y="7269480"/>
            <a:ext cx="176479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4681728"/>
            <a:ext cx="155448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I1 Collocated Atmospheric Observations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715000"/>
            <a:ext cx="155448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I2 Peer Platform Weather Observations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017520"/>
            <a:ext cx="265176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I3 Mission Weather Threshold Definitions</a:t>
            </a:r>
          </a:p>
        </p:txBody>
      </p:sp>
      <p:cxnSp>
        <p:nvCxnSpPr>
          <p:cNvPr id="35" name="Connector 34"/>
          <p:cNvCxnSpPr>
            <a:endCxn id="12" idx="0"/>
          </p:cNvCxnSpPr>
          <p:nvPr/>
        </p:nvCxnSpPr>
        <p:spPr>
          <a:xfrm>
            <a:off x="12161520" y="457200"/>
            <a:ext cx="0" cy="42976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endCxn id="12" idx="0"/>
          </p:cNvCxnSpPr>
          <p:nvPr/>
        </p:nvCxnSpPr>
        <p:spPr>
          <a:xfrm>
            <a:off x="11521440" y="457200"/>
            <a:ext cx="640080" cy="429768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endCxn id="16" idx="0"/>
          </p:cNvCxnSpPr>
          <p:nvPr/>
        </p:nvCxnSpPr>
        <p:spPr>
          <a:xfrm>
            <a:off x="16916400" y="457200"/>
            <a:ext cx="0" cy="62179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endCxn id="14" idx="0"/>
          </p:cNvCxnSpPr>
          <p:nvPr/>
        </p:nvCxnSpPr>
        <p:spPr>
          <a:xfrm>
            <a:off x="15087600" y="457200"/>
            <a:ext cx="0" cy="22860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endCxn id="16" idx="0"/>
          </p:cNvCxnSpPr>
          <p:nvPr/>
        </p:nvCxnSpPr>
        <p:spPr>
          <a:xfrm flipH="1">
            <a:off x="16916400" y="457200"/>
            <a:ext cx="365760" cy="621792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418320" y="118872"/>
            <a:ext cx="219456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C2 OPSEC / classification guidance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95760" y="118872"/>
            <a:ext cx="237744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C3 Network availability and DDS QoS policies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538960" y="118872"/>
            <a:ext cx="274320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C1 Mission objectives and operational constraints</a:t>
            </a:r>
          </a:p>
        </p:txBody>
      </p:sp>
      <p:cxnSp>
        <p:nvCxnSpPr>
          <p:cNvPr id="43" name="Connector 42"/>
          <p:cNvCxnSpPr>
            <a:stCxn id="12" idx="1"/>
          </p:cNvCxnSpPr>
          <p:nvPr/>
        </p:nvCxnSpPr>
        <p:spPr>
          <a:xfrm>
            <a:off x="10972800" y="5349240"/>
            <a:ext cx="78638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14" idx="1"/>
          </p:cNvCxnSpPr>
          <p:nvPr/>
        </p:nvCxnSpPr>
        <p:spPr>
          <a:xfrm>
            <a:off x="13898880" y="3337560"/>
            <a:ext cx="4937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16" idx="1"/>
          </p:cNvCxnSpPr>
          <p:nvPr/>
        </p:nvCxnSpPr>
        <p:spPr>
          <a:xfrm>
            <a:off x="15727680" y="7269480"/>
            <a:ext cx="31089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8928080" y="5120640"/>
            <a:ext cx="201168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O1 Fused COWP 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928080" y="3108960"/>
            <a:ext cx="201168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O3 Weather State Change Notifications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928080" y="7040880"/>
            <a:ext cx="201168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O2 Mission-Tailored COWP Excerpts</a:t>
            </a:r>
          </a:p>
        </p:txBody>
      </p:sp>
      <p:cxnSp>
        <p:nvCxnSpPr>
          <p:cNvPr id="49" name="Connector 48"/>
          <p:cNvCxnSpPr>
            <a:endCxn id="6" idx="2"/>
          </p:cNvCxnSpPr>
          <p:nvPr/>
        </p:nvCxnSpPr>
        <p:spPr>
          <a:xfrm flipV="1">
            <a:off x="3383280" y="5943600"/>
            <a:ext cx="0" cy="30175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endCxn id="8" idx="2"/>
          </p:cNvCxnSpPr>
          <p:nvPr/>
        </p:nvCxnSpPr>
        <p:spPr>
          <a:xfrm flipH="1" flipV="1">
            <a:off x="6309360" y="5943600"/>
            <a:ext cx="0" cy="30175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endCxn id="10" idx="2"/>
          </p:cNvCxnSpPr>
          <p:nvPr/>
        </p:nvCxnSpPr>
        <p:spPr>
          <a:xfrm flipV="1">
            <a:off x="9235440" y="5943600"/>
            <a:ext cx="0" cy="30175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endCxn id="12" idx="2"/>
          </p:cNvCxnSpPr>
          <p:nvPr/>
        </p:nvCxnSpPr>
        <p:spPr>
          <a:xfrm flipV="1">
            <a:off x="12161520" y="5943600"/>
            <a:ext cx="0" cy="30175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endCxn id="14" idx="2"/>
          </p:cNvCxnSpPr>
          <p:nvPr/>
        </p:nvCxnSpPr>
        <p:spPr>
          <a:xfrm flipV="1">
            <a:off x="15087600" y="3931920"/>
            <a:ext cx="0" cy="5029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>
            <a:endCxn id="16" idx="2"/>
          </p:cNvCxnSpPr>
          <p:nvPr/>
        </p:nvCxnSpPr>
        <p:spPr>
          <a:xfrm flipV="1">
            <a:off x="16916400" y="786384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endCxn id="8" idx="2"/>
          </p:cNvCxnSpPr>
          <p:nvPr/>
        </p:nvCxnSpPr>
        <p:spPr>
          <a:xfrm flipH="1" flipV="1">
            <a:off x="6309360" y="5943600"/>
            <a:ext cx="365760" cy="301752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endCxn id="10" idx="2"/>
          </p:cNvCxnSpPr>
          <p:nvPr/>
        </p:nvCxnSpPr>
        <p:spPr>
          <a:xfrm flipH="1" flipV="1">
            <a:off x="9235440" y="5943600"/>
            <a:ext cx="365760" cy="301752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endCxn id="12" idx="2"/>
          </p:cNvCxnSpPr>
          <p:nvPr/>
        </p:nvCxnSpPr>
        <p:spPr>
          <a:xfrm flipH="1" flipV="1">
            <a:off x="12161520" y="5943600"/>
            <a:ext cx="365760" cy="301752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endCxn id="16" idx="2"/>
          </p:cNvCxnSpPr>
          <p:nvPr/>
        </p:nvCxnSpPr>
        <p:spPr>
          <a:xfrm flipH="1" flipV="1">
            <a:off x="16916400" y="7863840"/>
            <a:ext cx="365760" cy="109728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828800" y="9070848"/>
            <a:ext cx="292608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9070848"/>
            <a:ext cx="27432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M2 ABLE-LBM / reduced models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21440" y="9070848"/>
            <a:ext cx="310896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M3 DDS middleware and communications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