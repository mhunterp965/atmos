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058400" cy="7772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502920"/>
            <a:ext cx="9418320" cy="6812280"/>
          </a:xfrm>
          <a:prstGeom prst="rect">
            <a:avLst/>
          </a:prstGeom>
          <a:noFill/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548640"/>
            <a:ext cx="9418320" cy="310896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ctr"/>
            <a:r>
              <a:rPr sz="1500" b="1">
                <a:solidFill>
                  <a:srgbClr val="000000"/>
                </a:solidFill>
              </a:rPr>
              <a:t>A4 — Decompose Federate and Maintain Federated Weather Context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8549640" y="6967728"/>
            <a:ext cx="1097280" cy="274320"/>
          </a:xfrm>
          <a:prstGeom prst="rect">
            <a:avLst/>
          </a:pr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000000"/>
                </a:solidFill>
              </a:rPr>
              <a:t>A4</a:t>
            </a:r>
          </a:p>
        </p:txBody>
      </p:sp>
      <p:sp>
        <p:nvSpPr>
          <p:cNvPr id="5" name="Rectangle 4"/>
          <p:cNvSpPr/>
          <p:nvPr/>
        </p:nvSpPr>
        <p:spPr>
          <a:xfrm>
            <a:off x="1325880" y="2057400"/>
            <a:ext cx="201168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200" b="1">
                <a:solidFill>
                  <a:srgbClr val="000000"/>
                </a:solidFill>
              </a:rPr>
              <a:t>A41</a:t>
            </a:r>
          </a:p>
          <a:p>
            <a:pPr algn="ctr"/>
            <a:r>
              <a:rPr sz="1000">
                <a:solidFill>
                  <a:srgbClr val="000000"/>
                </a:solidFill>
              </a:rPr>
              <a:t>Publish Local Weather State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1325880" y="4572000"/>
            <a:ext cx="201168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200" b="1">
                <a:solidFill>
                  <a:srgbClr val="000000"/>
                </a:solidFill>
              </a:rPr>
              <a:t>A42</a:t>
            </a:r>
          </a:p>
          <a:p>
            <a:pPr algn="ctr"/>
            <a:r>
              <a:rPr sz="1000">
                <a:solidFill>
                  <a:srgbClr val="000000"/>
                </a:solidFill>
              </a:rPr>
              <a:t>Subscribe to Peer Weather States</a:t>
            </a:r>
          </a:p>
        </p:txBody>
      </p:sp>
      <p:sp>
        <p:nvSpPr>
          <p:cNvPr id="7" name="Rectangle 6"/>
          <p:cNvSpPr/>
          <p:nvPr/>
        </p:nvSpPr>
        <p:spPr>
          <a:xfrm>
            <a:off x="4617720" y="2834640"/>
            <a:ext cx="2148840" cy="86868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200" b="1">
                <a:solidFill>
                  <a:srgbClr val="000000"/>
                </a:solidFill>
              </a:rPr>
              <a:t>A43</a:t>
            </a:r>
          </a:p>
          <a:p>
            <a:pPr algn="ctr"/>
            <a:r>
              <a:rPr sz="1000">
                <a:solidFill>
                  <a:srgbClr val="000000"/>
                </a:solidFill>
              </a:rPr>
              <a:t>Stitch and Blend Weather States</a:t>
            </a:r>
          </a:p>
        </p:txBody>
      </p:sp>
      <p:sp>
        <p:nvSpPr>
          <p:cNvPr id="8" name="Rectangle 7"/>
          <p:cNvSpPr/>
          <p:nvPr/>
        </p:nvSpPr>
        <p:spPr>
          <a:xfrm>
            <a:off x="7086600" y="4892040"/>
            <a:ext cx="205740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200" b="1">
                <a:solidFill>
                  <a:srgbClr val="000000"/>
                </a:solidFill>
              </a:rPr>
              <a:t>A44</a:t>
            </a:r>
          </a:p>
          <a:p>
            <a:pPr algn="ctr"/>
            <a:r>
              <a:rPr sz="1000">
                <a:solidFill>
                  <a:srgbClr val="000000"/>
                </a:solidFill>
              </a:rPr>
              <a:t>Maintain Degraded or Disconnected Operation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57200" y="2446020"/>
            <a:ext cx="548640" cy="0"/>
          </a:xfrm>
          <a:prstGeom prst="bentConnector3">
            <a:avLst/>
          </a:prstGeom>
          <a:ln w="1587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005840" y="2446020"/>
            <a:ext cx="320040" cy="0"/>
          </a:xfrm>
          <a:prstGeom prst="bentConnector3">
            <a:avLst/>
          </a:prstGeom>
          <a:ln w="1587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1309878" y="2430018"/>
            <a:ext cx="32004" cy="320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1005840" y="2446020"/>
            <a:ext cx="0" cy="571500"/>
          </a:xfrm>
          <a:prstGeom prst="bentConnector3">
            <a:avLst/>
          </a:prstGeom>
          <a:ln w="1587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005840" y="3017520"/>
            <a:ext cx="3611880" cy="0"/>
          </a:xfrm>
          <a:prstGeom prst="bentConnector3">
            <a:avLst/>
          </a:prstGeom>
          <a:ln w="1587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4601718" y="3001518"/>
            <a:ext cx="32004" cy="320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457200" y="4960620"/>
            <a:ext cx="868680" cy="0"/>
          </a:xfrm>
          <a:prstGeom prst="bentConnector3">
            <a:avLst/>
          </a:prstGeom>
          <a:ln w="1587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1309878" y="4944618"/>
            <a:ext cx="32004" cy="320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1993392"/>
            <a:ext cx="164592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12700" rIns="12700" tIns="12700" bIns="1270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</a:rPr>
              <a:t>F3 Confidence Bounds &amp; Risk Envelopes (IER-09)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4498848"/>
            <a:ext cx="164592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12700" rIns="12700" tIns="12700" bIns="1270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</a:rPr>
              <a:t>Peer Weather State Publications (IER-10 / IER-11)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331720" y="1417320"/>
            <a:ext cx="5760720" cy="0"/>
          </a:xfrm>
          <a:prstGeom prst="bentConnector3">
            <a:avLst/>
          </a:prstGeom>
          <a:ln w="1587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2331720" y="1417320"/>
            <a:ext cx="0" cy="640080"/>
          </a:xfrm>
          <a:prstGeom prst="bentConnector3">
            <a:avLst/>
          </a:prstGeom>
          <a:ln w="1587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2315718" y="2041398"/>
            <a:ext cx="32004" cy="320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>
            <a:off x="8092440" y="1417320"/>
            <a:ext cx="0" cy="3474720"/>
          </a:xfrm>
          <a:prstGeom prst="bentConnector3">
            <a:avLst/>
          </a:prstGeom>
          <a:ln w="1587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8076438" y="4876038"/>
            <a:ext cx="32004" cy="320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" name="Connector 23"/>
          <p:cNvCxnSpPr/>
          <p:nvPr/>
        </p:nvCxnSpPr>
        <p:spPr>
          <a:xfrm>
            <a:off x="3474720" y="1417320"/>
            <a:ext cx="0" cy="2743200"/>
          </a:xfrm>
          <a:prstGeom prst="bentConnector3">
            <a:avLst/>
          </a:prstGeom>
          <a:ln w="1587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2651760" y="4160520"/>
            <a:ext cx="822960" cy="0"/>
          </a:xfrm>
          <a:prstGeom prst="bentConnector3">
            <a:avLst/>
          </a:prstGeom>
          <a:ln w="1587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2651760" y="4160520"/>
            <a:ext cx="0" cy="411480"/>
          </a:xfrm>
          <a:prstGeom prst="bentConnector3">
            <a:avLst/>
          </a:prstGeom>
          <a:ln w="1587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2635758" y="4555998"/>
            <a:ext cx="32004" cy="320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" name="Connector 27"/>
          <p:cNvCxnSpPr/>
          <p:nvPr/>
        </p:nvCxnSpPr>
        <p:spPr>
          <a:xfrm>
            <a:off x="3703320" y="1645920"/>
            <a:ext cx="3794759" cy="0"/>
          </a:xfrm>
          <a:prstGeom prst="bentConnector3">
            <a:avLst/>
          </a:prstGeom>
          <a:ln w="1587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5349240" y="1645920"/>
            <a:ext cx="0" cy="1188720"/>
          </a:xfrm>
          <a:prstGeom prst="bentConnector3">
            <a:avLst/>
          </a:prstGeom>
          <a:ln w="1587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5333238" y="2818638"/>
            <a:ext cx="32004" cy="320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1" name="Connector 30"/>
          <p:cNvCxnSpPr/>
          <p:nvPr/>
        </p:nvCxnSpPr>
        <p:spPr>
          <a:xfrm>
            <a:off x="7498079" y="1645920"/>
            <a:ext cx="0" cy="3246120"/>
          </a:xfrm>
          <a:prstGeom prst="bentConnector3">
            <a:avLst/>
          </a:prstGeom>
          <a:ln w="1587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7482077" y="4876038"/>
            <a:ext cx="32004" cy="320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3" name="Connector 32"/>
          <p:cNvCxnSpPr/>
          <p:nvPr/>
        </p:nvCxnSpPr>
        <p:spPr>
          <a:xfrm>
            <a:off x="3703320" y="1645920"/>
            <a:ext cx="0" cy="2331719"/>
          </a:xfrm>
          <a:prstGeom prst="bentConnector3">
            <a:avLst/>
          </a:prstGeom>
          <a:ln w="1587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H="1">
            <a:off x="2011680" y="3977639"/>
            <a:ext cx="1691640" cy="0"/>
          </a:xfrm>
          <a:prstGeom prst="bentConnector3">
            <a:avLst/>
          </a:prstGeom>
          <a:ln w="1587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2011680" y="3977639"/>
            <a:ext cx="0" cy="594361"/>
          </a:xfrm>
          <a:prstGeom prst="bentConnector3">
            <a:avLst/>
          </a:prstGeom>
          <a:ln w="1587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1995678" y="4555998"/>
            <a:ext cx="32004" cy="320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7" name="Connector 36"/>
          <p:cNvCxnSpPr/>
          <p:nvPr/>
        </p:nvCxnSpPr>
        <p:spPr>
          <a:xfrm>
            <a:off x="6172200" y="1417320"/>
            <a:ext cx="0" cy="1417320"/>
          </a:xfrm>
          <a:prstGeom prst="bentConnector3">
            <a:avLst/>
          </a:prstGeom>
          <a:ln w="1587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6156198" y="2818638"/>
            <a:ext cx="32004" cy="320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9" name="Connector 38"/>
          <p:cNvCxnSpPr/>
          <p:nvPr/>
        </p:nvCxnSpPr>
        <p:spPr>
          <a:xfrm>
            <a:off x="8686800" y="1417320"/>
            <a:ext cx="0" cy="3474720"/>
          </a:xfrm>
          <a:prstGeom prst="bentConnector3">
            <a:avLst/>
          </a:prstGeom>
          <a:ln w="1587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>
          <a:xfrm>
            <a:off x="8670798" y="4876038"/>
            <a:ext cx="32004" cy="320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02920" y="914400"/>
            <a:ext cx="2697480" cy="310896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</a:rPr>
              <a:t>C3 Network availability and DDS QoS policies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11880" y="914400"/>
            <a:ext cx="2011680" cy="310896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</a:rPr>
              <a:t>C2 OPSEC / classification guidance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760720" y="896112"/>
            <a:ext cx="2057400" cy="36576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</a:rPr>
              <a:t>C41 Fusion heuristics; data age limits; prioritization rules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909560" y="896112"/>
            <a:ext cx="1783080" cy="36576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</a:rPr>
              <a:t>C42 Cache expiration; reconnection behavior; storage limits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3337560" y="2446020"/>
            <a:ext cx="594360" cy="0"/>
          </a:xfrm>
          <a:prstGeom prst="bentConnector3">
            <a:avLst/>
          </a:prstGeom>
          <a:ln w="1587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3931920" y="2446020"/>
            <a:ext cx="0" cy="754380"/>
          </a:xfrm>
          <a:prstGeom prst="bentConnector3">
            <a:avLst/>
          </a:prstGeom>
          <a:ln w="1587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3931920" y="3200400"/>
            <a:ext cx="685800" cy="0"/>
          </a:xfrm>
          <a:prstGeom prst="bentConnector3">
            <a:avLst/>
          </a:prstGeom>
          <a:ln w="1587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ectangle 47"/>
          <p:cNvSpPr/>
          <p:nvPr/>
        </p:nvSpPr>
        <p:spPr>
          <a:xfrm>
            <a:off x="4601718" y="3184398"/>
            <a:ext cx="32004" cy="320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3321558" y="2430018"/>
            <a:ext cx="32004" cy="320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0" name="Connector 49"/>
          <p:cNvCxnSpPr/>
          <p:nvPr/>
        </p:nvCxnSpPr>
        <p:spPr>
          <a:xfrm>
            <a:off x="3337560" y="4960620"/>
            <a:ext cx="822960" cy="0"/>
          </a:xfrm>
          <a:prstGeom prst="bentConnector3">
            <a:avLst/>
          </a:prstGeom>
          <a:ln w="1587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4160520" y="3383280"/>
            <a:ext cx="0" cy="1577340"/>
          </a:xfrm>
          <a:prstGeom prst="bentConnector3">
            <a:avLst/>
          </a:prstGeom>
          <a:ln w="1587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4160520" y="3383280"/>
            <a:ext cx="457200" cy="0"/>
          </a:xfrm>
          <a:prstGeom prst="bentConnector3">
            <a:avLst/>
          </a:prstGeom>
          <a:ln w="1587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ectangle 52"/>
          <p:cNvSpPr/>
          <p:nvPr/>
        </p:nvSpPr>
        <p:spPr>
          <a:xfrm>
            <a:off x="4601718" y="3367278"/>
            <a:ext cx="32004" cy="320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3321558" y="4944618"/>
            <a:ext cx="32004" cy="320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5" name="Connector 54"/>
          <p:cNvCxnSpPr/>
          <p:nvPr/>
        </p:nvCxnSpPr>
        <p:spPr>
          <a:xfrm>
            <a:off x="6766560" y="3474720"/>
            <a:ext cx="155448" cy="0"/>
          </a:xfrm>
          <a:prstGeom prst="bentConnector3">
            <a:avLst/>
          </a:prstGeom>
          <a:ln w="1587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6922008" y="3474720"/>
            <a:ext cx="0" cy="1805940"/>
          </a:xfrm>
          <a:prstGeom prst="bentConnector3">
            <a:avLst/>
          </a:prstGeom>
          <a:ln w="1587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6922008" y="5280660"/>
            <a:ext cx="164592" cy="0"/>
          </a:xfrm>
          <a:prstGeom prst="bentConnector3">
            <a:avLst/>
          </a:prstGeom>
          <a:ln w="1587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Rectangle 57"/>
          <p:cNvSpPr/>
          <p:nvPr/>
        </p:nvSpPr>
        <p:spPr>
          <a:xfrm>
            <a:off x="7070598" y="5264658"/>
            <a:ext cx="32004" cy="320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6750558" y="3458718"/>
            <a:ext cx="32004" cy="320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0" name="Connector 59"/>
          <p:cNvCxnSpPr/>
          <p:nvPr/>
        </p:nvCxnSpPr>
        <p:spPr>
          <a:xfrm>
            <a:off x="9144000" y="5280660"/>
            <a:ext cx="228600" cy="0"/>
          </a:xfrm>
          <a:prstGeom prst="bentConnector3">
            <a:avLst/>
          </a:prstGeom>
          <a:ln w="1587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9372600" y="4160520"/>
            <a:ext cx="0" cy="1120140"/>
          </a:xfrm>
          <a:prstGeom prst="bentConnector3">
            <a:avLst/>
          </a:prstGeom>
          <a:ln w="1587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H="1">
            <a:off x="4389120" y="4160520"/>
            <a:ext cx="4983480" cy="0"/>
          </a:xfrm>
          <a:prstGeom prst="bentConnector3">
            <a:avLst/>
          </a:prstGeom>
          <a:ln w="1587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4389120" y="3566160"/>
            <a:ext cx="0" cy="594360"/>
          </a:xfrm>
          <a:prstGeom prst="bentConnector3">
            <a:avLst/>
          </a:prstGeom>
          <a:ln w="1587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4389120" y="3566160"/>
            <a:ext cx="228600" cy="0"/>
          </a:xfrm>
          <a:prstGeom prst="bentConnector3">
            <a:avLst/>
          </a:prstGeom>
          <a:ln w="1587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Rectangle 64"/>
          <p:cNvSpPr/>
          <p:nvPr/>
        </p:nvSpPr>
        <p:spPr>
          <a:xfrm>
            <a:off x="4601718" y="3550158"/>
            <a:ext cx="32004" cy="320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9127998" y="5264658"/>
            <a:ext cx="32004" cy="320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429000" y="2084831"/>
            <a:ext cx="169164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12700" rIns="12700" tIns="12700" bIns="1270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</a:rPr>
              <a:t>A4-F1 Local Weather State Publication (IER-10)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429000" y="4114800"/>
            <a:ext cx="169164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12700" rIns="12700" tIns="12700" bIns="1270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</a:rPr>
              <a:t>A4-F2 Peer Weather State Subscription (IER-11)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989320" y="4224528"/>
            <a:ext cx="164592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12700" rIns="12700" tIns="12700" bIns="1270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</a:rPr>
              <a:t>A4-F3 Fused Weather Context State (IER-12)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846320" y="3840480"/>
            <a:ext cx="164592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12700" rIns="12700" tIns="12700" bIns="1270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</a:rPr>
              <a:t>A4-F4 Cached Weather State (IER-13)</a:t>
            </a:r>
          </a:p>
        </p:txBody>
      </p:sp>
      <p:cxnSp>
        <p:nvCxnSpPr>
          <p:cNvPr id="71" name="Connector 70"/>
          <p:cNvCxnSpPr/>
          <p:nvPr/>
        </p:nvCxnSpPr>
        <p:spPr>
          <a:xfrm>
            <a:off x="6766560" y="3154680"/>
            <a:ext cx="2788920" cy="0"/>
          </a:xfrm>
          <a:prstGeom prst="bentConnector3">
            <a:avLst/>
          </a:prstGeom>
          <a:ln w="1587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Rectangle 71"/>
          <p:cNvSpPr/>
          <p:nvPr/>
        </p:nvSpPr>
        <p:spPr>
          <a:xfrm>
            <a:off x="9539478" y="3138678"/>
            <a:ext cx="32004" cy="320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750558" y="3138678"/>
            <a:ext cx="32004" cy="320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360920" y="2761488"/>
            <a:ext cx="178308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12700" rIns="12700" tIns="12700" bIns="1270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</a:rPr>
              <a:t>F4 Federated Weather Context / COWP State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360920" y="3273552"/>
            <a:ext cx="1874519" cy="6035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12700" rIns="12700" tIns="12700" bIns="1270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</a:rPr>
              <a:t>To A5 Detect Threshold Crossings and A6 Produce Mission-Tailored Weather Context</a:t>
            </a:r>
          </a:p>
        </p:txBody>
      </p:sp>
      <p:cxnSp>
        <p:nvCxnSpPr>
          <p:cNvPr id="76" name="Connector 75"/>
          <p:cNvCxnSpPr/>
          <p:nvPr/>
        </p:nvCxnSpPr>
        <p:spPr>
          <a:xfrm>
            <a:off x="1874519" y="6355080"/>
            <a:ext cx="5623560" cy="0"/>
          </a:xfrm>
          <a:prstGeom prst="bentConnector3">
            <a:avLst/>
          </a:prstGeom>
          <a:ln w="1587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1874519" y="5349240"/>
            <a:ext cx="0" cy="1005840"/>
          </a:xfrm>
          <a:prstGeom prst="bentConnector3">
            <a:avLst/>
          </a:prstGeom>
          <a:ln w="1587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Rectangle 77"/>
          <p:cNvSpPr/>
          <p:nvPr/>
        </p:nvSpPr>
        <p:spPr>
          <a:xfrm>
            <a:off x="1858517" y="5333238"/>
            <a:ext cx="32004" cy="320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591055" y="5413248"/>
            <a:ext cx="566928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12700" rIns="12700" tIns="12700" bIns="12700">
            <a:spAutoFit/>
          </a:bodyPr>
          <a:lstStyle/>
          <a:p>
            <a:pPr algn="ctr"/>
            <a:r>
              <a:rPr sz="1000" b="1">
                <a:solidFill>
                  <a:srgbClr val="000000"/>
                </a:solidFill>
              </a:rPr>
              <a:t>M1</a:t>
            </a:r>
          </a:p>
        </p:txBody>
      </p:sp>
      <p:cxnSp>
        <p:nvCxnSpPr>
          <p:cNvPr id="80" name="Connector 79"/>
          <p:cNvCxnSpPr/>
          <p:nvPr/>
        </p:nvCxnSpPr>
        <p:spPr>
          <a:xfrm flipV="1">
            <a:off x="5166360" y="3703320"/>
            <a:ext cx="0" cy="2651760"/>
          </a:xfrm>
          <a:prstGeom prst="bentConnector3">
            <a:avLst/>
          </a:prstGeom>
          <a:ln w="1587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Rectangle 80"/>
          <p:cNvSpPr/>
          <p:nvPr/>
        </p:nvSpPr>
        <p:spPr>
          <a:xfrm>
            <a:off x="5150358" y="3687318"/>
            <a:ext cx="32004" cy="320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4882896" y="3767328"/>
            <a:ext cx="566928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12700" rIns="12700" tIns="12700" bIns="12700">
            <a:spAutoFit/>
          </a:bodyPr>
          <a:lstStyle/>
          <a:p>
            <a:pPr algn="ctr"/>
            <a:r>
              <a:rPr sz="1000" b="1">
                <a:solidFill>
                  <a:srgbClr val="000000"/>
                </a:solidFill>
              </a:rPr>
              <a:t>M1</a:t>
            </a:r>
          </a:p>
        </p:txBody>
      </p:sp>
      <p:cxnSp>
        <p:nvCxnSpPr>
          <p:cNvPr id="83" name="Connector 82"/>
          <p:cNvCxnSpPr/>
          <p:nvPr/>
        </p:nvCxnSpPr>
        <p:spPr>
          <a:xfrm flipV="1">
            <a:off x="7498079" y="5669280"/>
            <a:ext cx="0" cy="685800"/>
          </a:xfrm>
          <a:prstGeom prst="bentConnector3">
            <a:avLst/>
          </a:prstGeom>
          <a:ln w="1587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Rectangle 83"/>
          <p:cNvSpPr/>
          <p:nvPr/>
        </p:nvSpPr>
        <p:spPr>
          <a:xfrm>
            <a:off x="7482077" y="5653278"/>
            <a:ext cx="32004" cy="320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7214616" y="5733288"/>
            <a:ext cx="566928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12700" rIns="12700" tIns="12700" bIns="12700">
            <a:spAutoFit/>
          </a:bodyPr>
          <a:lstStyle/>
          <a:p>
            <a:pPr algn="ctr"/>
            <a:r>
              <a:rPr sz="1000" b="1">
                <a:solidFill>
                  <a:srgbClr val="000000"/>
                </a:solidFill>
              </a:rPr>
              <a:t>M1</a:t>
            </a:r>
          </a:p>
        </p:txBody>
      </p:sp>
      <p:cxnSp>
        <p:nvCxnSpPr>
          <p:cNvPr id="86" name="Connector 85"/>
          <p:cNvCxnSpPr/>
          <p:nvPr/>
        </p:nvCxnSpPr>
        <p:spPr>
          <a:xfrm flipV="1">
            <a:off x="3611880" y="4160520"/>
            <a:ext cx="0" cy="2194560"/>
          </a:xfrm>
          <a:prstGeom prst="bentConnector3">
            <a:avLst/>
          </a:prstGeom>
          <a:ln w="1587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H="1">
            <a:off x="1874519" y="4160520"/>
            <a:ext cx="1737361" cy="0"/>
          </a:xfrm>
          <a:prstGeom prst="bentConnector3">
            <a:avLst/>
          </a:prstGeom>
          <a:ln w="1587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V="1">
            <a:off x="1874519" y="2834640"/>
            <a:ext cx="0" cy="1325880"/>
          </a:xfrm>
          <a:prstGeom prst="bentConnector3">
            <a:avLst/>
          </a:prstGeom>
          <a:ln w="1587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Rectangle 88"/>
          <p:cNvSpPr/>
          <p:nvPr/>
        </p:nvSpPr>
        <p:spPr>
          <a:xfrm>
            <a:off x="1858517" y="2818638"/>
            <a:ext cx="32004" cy="320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1591055" y="2898648"/>
            <a:ext cx="566928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12700" rIns="12700" tIns="12700" bIns="12700">
            <a:spAutoFit/>
          </a:bodyPr>
          <a:lstStyle/>
          <a:p>
            <a:pPr algn="ctr"/>
            <a:r>
              <a:rPr sz="1000" b="1">
                <a:solidFill>
                  <a:srgbClr val="000000"/>
                </a:solidFill>
              </a:rPr>
              <a:t>M1</a:t>
            </a:r>
          </a:p>
        </p:txBody>
      </p:sp>
      <p:cxnSp>
        <p:nvCxnSpPr>
          <p:cNvPr id="91" name="Connector 90"/>
          <p:cNvCxnSpPr/>
          <p:nvPr/>
        </p:nvCxnSpPr>
        <p:spPr>
          <a:xfrm>
            <a:off x="2788920" y="6629400"/>
            <a:ext cx="1051560" cy="0"/>
          </a:xfrm>
          <a:prstGeom prst="bentConnector3">
            <a:avLst/>
          </a:prstGeom>
          <a:ln w="1587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 flipV="1">
            <a:off x="2788920" y="5349240"/>
            <a:ext cx="0" cy="1280160"/>
          </a:xfrm>
          <a:prstGeom prst="bentConnector3">
            <a:avLst/>
          </a:prstGeom>
          <a:ln w="1587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Rectangle 92"/>
          <p:cNvSpPr/>
          <p:nvPr/>
        </p:nvSpPr>
        <p:spPr>
          <a:xfrm>
            <a:off x="2772918" y="5333238"/>
            <a:ext cx="32004" cy="320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2505456" y="5413248"/>
            <a:ext cx="566928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12700" rIns="12700" tIns="12700" bIns="12700">
            <a:spAutoFit/>
          </a:bodyPr>
          <a:lstStyle/>
          <a:p>
            <a:pPr algn="ctr"/>
            <a:r>
              <a:rPr sz="1000" b="1">
                <a:solidFill>
                  <a:srgbClr val="000000"/>
                </a:solidFill>
              </a:rPr>
              <a:t>M3</a:t>
            </a:r>
          </a:p>
        </p:txBody>
      </p:sp>
      <p:cxnSp>
        <p:nvCxnSpPr>
          <p:cNvPr id="95" name="Connector 94"/>
          <p:cNvCxnSpPr/>
          <p:nvPr/>
        </p:nvCxnSpPr>
        <p:spPr>
          <a:xfrm flipV="1">
            <a:off x="3840480" y="3931920"/>
            <a:ext cx="0" cy="2697480"/>
          </a:xfrm>
          <a:prstGeom prst="bentConnector3">
            <a:avLst/>
          </a:prstGeom>
          <a:ln w="1587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 flipH="1">
            <a:off x="2788920" y="3931920"/>
            <a:ext cx="1051560" cy="0"/>
          </a:xfrm>
          <a:prstGeom prst="bentConnector3">
            <a:avLst/>
          </a:prstGeom>
          <a:ln w="1587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 flipV="1">
            <a:off x="2788920" y="2834640"/>
            <a:ext cx="0" cy="1097280"/>
          </a:xfrm>
          <a:prstGeom prst="bentConnector3">
            <a:avLst/>
          </a:prstGeom>
          <a:ln w="1587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Rectangle 97"/>
          <p:cNvSpPr/>
          <p:nvPr/>
        </p:nvSpPr>
        <p:spPr>
          <a:xfrm>
            <a:off x="2772918" y="2818638"/>
            <a:ext cx="32004" cy="320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2505456" y="2898648"/>
            <a:ext cx="566928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12700" rIns="12700" tIns="12700" bIns="12700">
            <a:spAutoFit/>
          </a:bodyPr>
          <a:lstStyle/>
          <a:p>
            <a:pPr algn="ctr"/>
            <a:r>
              <a:rPr sz="1000" b="1">
                <a:solidFill>
                  <a:srgbClr val="000000"/>
                </a:solidFill>
              </a:rPr>
              <a:t>M3</a:t>
            </a:r>
          </a:p>
        </p:txBody>
      </p:sp>
      <p:cxnSp>
        <p:nvCxnSpPr>
          <p:cNvPr id="100" name="Connector 99"/>
          <p:cNvCxnSpPr/>
          <p:nvPr/>
        </p:nvCxnSpPr>
        <p:spPr>
          <a:xfrm flipV="1">
            <a:off x="6263640" y="3703320"/>
            <a:ext cx="0" cy="2286000"/>
          </a:xfrm>
          <a:prstGeom prst="bentConnector3">
            <a:avLst/>
          </a:prstGeom>
          <a:ln w="1587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" name="Rectangle 100"/>
          <p:cNvSpPr/>
          <p:nvPr/>
        </p:nvSpPr>
        <p:spPr>
          <a:xfrm>
            <a:off x="6247638" y="3687318"/>
            <a:ext cx="32004" cy="320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5980176" y="3767328"/>
            <a:ext cx="566928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12700" rIns="12700" tIns="12700" bIns="12700">
            <a:spAutoFit/>
          </a:bodyPr>
          <a:lstStyle/>
          <a:p>
            <a:pPr algn="ctr"/>
            <a:r>
              <a:rPr sz="1000" b="1">
                <a:solidFill>
                  <a:srgbClr val="000000"/>
                </a:solidFill>
              </a:rPr>
              <a:t>M41</a:t>
            </a:r>
          </a:p>
        </p:txBody>
      </p:sp>
      <p:cxnSp>
        <p:nvCxnSpPr>
          <p:cNvPr id="103" name="Connector 102"/>
          <p:cNvCxnSpPr/>
          <p:nvPr/>
        </p:nvCxnSpPr>
        <p:spPr>
          <a:xfrm flipV="1">
            <a:off x="8595360" y="5669280"/>
            <a:ext cx="0" cy="320040"/>
          </a:xfrm>
          <a:prstGeom prst="bentConnector3">
            <a:avLst/>
          </a:prstGeom>
          <a:ln w="1587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" name="Rectangle 103"/>
          <p:cNvSpPr/>
          <p:nvPr/>
        </p:nvSpPr>
        <p:spPr>
          <a:xfrm>
            <a:off x="8579358" y="5653278"/>
            <a:ext cx="32004" cy="320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8311896" y="5733288"/>
            <a:ext cx="566928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12700" rIns="12700" tIns="12700" bIns="12700">
            <a:spAutoFit/>
          </a:bodyPr>
          <a:lstStyle/>
          <a:p>
            <a:pPr algn="ctr"/>
            <a:r>
              <a:rPr sz="1000" b="1">
                <a:solidFill>
                  <a:srgbClr val="000000"/>
                </a:solidFill>
              </a:rPr>
              <a:t>M42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502920" y="6839712"/>
            <a:ext cx="2240280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12700" rIns="12700" tIns="12700" bIns="1270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</a:rPr>
              <a:t>M1 Platforms hosting ATMOS node compute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2834640" y="6839712"/>
            <a:ext cx="2468880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12700" rIns="12700" tIns="12700" bIns="1270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</a:rPr>
              <a:t>M3 DDS middleware and communications links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5486400" y="6839712"/>
            <a:ext cx="1691640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12700" rIns="12700" tIns="12700" bIns="1270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</a:rPr>
              <a:t>M41 ATMOS federation logic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7269480" y="6839712"/>
            <a:ext cx="1920240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12700" rIns="12700" tIns="12700" bIns="1270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</a:rPr>
              <a:t>M42 Local storage / cache manager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